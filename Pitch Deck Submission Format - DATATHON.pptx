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9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1D8A9-6879-69C5-30A9-0005EFA64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1559D-E276-4530-C78B-1ADDA78D9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5FF92-A472-0122-FBBE-378F5C2B0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4FC3F-CCFA-B350-EE59-2E250AB0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D24E6-8EB8-3007-03C8-C71CE142F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2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42D0-846F-7793-04AC-04353989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4C6BF-04E6-1D8A-6C9B-69A419D93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5F442-EED4-803E-4679-2C99E6A7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E81BA-44AE-B373-5B67-9C61A7F3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F6B72-B06E-C95B-695C-121F0039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28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662C-75BD-EC5C-1662-C1B76C40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2E073-72F6-860F-9A9C-C264DD0A9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DD1AC-DD93-0617-BA6D-839D4570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4B332-34E0-1F5D-9633-335C161AC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3911F-9DBE-1011-95C6-C1C7E7126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63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F1FE6-8273-D008-B270-12F7BA71C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78999-9F6C-E911-8498-5886B382D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F7A79-2692-5637-67F9-78051EABA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B4207-2C6F-EC30-72E8-9F5A8A028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D5925-D954-FB2D-BECE-B6C8AF6C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3DF65-E98F-4E91-81B0-E61C81E4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198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1679-94DD-D70A-0296-B3C7B46C5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596F3-65BB-1E68-0EA0-46EAD9397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4ED93-E907-3536-F652-56C7AFB9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CE3A4D-96A0-779D-47B1-4AA64507E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5E1CE4-679D-2928-E123-22E441F1B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CDE08C-3906-B937-61B7-4AB81E4AE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2E86A-C015-CD36-8C4C-1EEE524E1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CD88E8-9516-5C1E-D6BF-0EA0216D6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442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71C8-8EC8-3166-2F42-D33DFAB8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9AAC2E-9A9C-A7CC-0341-DA26966C4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3E7001-1CF6-785A-0134-734F8F37A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EEE2F-1F76-17EF-FBD7-E5AE8A19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6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F0055-9785-3CD6-924A-358859C4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1D253D-13E5-5ABE-F79C-832C6FEEB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C2CBA-F97C-F5CD-2253-A71EC2F2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73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D487F-704F-9FD0-2E4C-3DCF5389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C87C-3244-C37C-6938-25D0C93D6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D2ED9-84AF-E4CE-8D4B-01A4494C6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9995A-90D9-752C-A5D6-8F666ABA1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26F3A-77CA-32B5-DBD9-A8E1DAAB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913A6-AB1C-9B9C-AECB-CB732FAF8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006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3D76-48C7-1F7D-CF25-49D46BB9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0A4F8D-A68E-36AC-ABFB-808F95F9A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0AC9A-77C1-7C05-17B0-49D1FF422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BF53B-5CDA-6700-6FAF-D67FC94F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BD79B-C2B9-7547-BF52-946B326E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D6791-4355-A3F3-64C1-D2511EED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80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A1C8-AFC0-ED9A-76E3-3F51B833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BE22E-D26D-6B44-FB1F-A6854095A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29AE0-7E9C-FD60-5465-7C1E85438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C87AF-F867-48AA-0E80-FBA188AE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84EE8-2A5F-2040-CE95-9FF33777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84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389C7F-3BB2-C14D-2412-45898B91A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AF63A-5E57-0084-3D3E-FA22369DC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EBD8A-C678-2A92-5B54-14B78D1F1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9A6B4-E886-E9F0-D227-EBB5AA410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00887-CDC0-891D-7FD7-819EEAA9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984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37614B-D266-DDD7-0A31-133C5C5F9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12338-0D5F-2EAC-416B-A76DD35A7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8869F-A79C-1047-59EF-A37232354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38FBB-E79C-41EF-A4CF-99381C9E421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5D0F4-4423-6BA3-92C9-404B85CFF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6B3EC-60E3-CE67-22FE-E3612E24A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50803-0E54-444F-A871-71F489013E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256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CBF96-6736-AF11-6E65-F6710A51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35E3E91-EA12-9BBF-06C7-42C293EDB35C}"/>
              </a:ext>
            </a:extLst>
          </p:cNvPr>
          <p:cNvSpPr txBox="1">
            <a:spLocks/>
          </p:cNvSpPr>
          <p:nvPr/>
        </p:nvSpPr>
        <p:spPr>
          <a:xfrm>
            <a:off x="0" y="1187917"/>
            <a:ext cx="8968996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Rubik" pitchFamily="2" charset="-79"/>
              <a:cs typeface="Rubik" pitchFamily="2" charset="-79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ACA65E7-92FF-099B-A42B-D22DF043D0C2}"/>
              </a:ext>
            </a:extLst>
          </p:cNvPr>
          <p:cNvSpPr txBox="1">
            <a:spLocks/>
          </p:cNvSpPr>
          <p:nvPr/>
        </p:nvSpPr>
        <p:spPr>
          <a:xfrm>
            <a:off x="175004" y="2093804"/>
            <a:ext cx="11744276" cy="23149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Name: Shrikant Dighole</a:t>
            </a:r>
            <a:endParaRPr lang="en-IN" sz="1800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  <a:p>
            <a:r>
              <a:rPr lang="en-IN" sz="18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Institute: IIT Bombay</a:t>
            </a:r>
          </a:p>
          <a:p>
            <a:r>
              <a:rPr lang="en-IN" sz="18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Roll No. : 22B2244</a:t>
            </a:r>
          </a:p>
          <a:p>
            <a:r>
              <a:rPr lang="en-IN" sz="18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Email ID: 22b2244@iitb.ac.in</a:t>
            </a:r>
            <a:endParaRPr lang="en-IN" sz="1800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  <a:p>
            <a:r>
              <a:rPr lang="en-IN" sz="18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Opportunity: </a:t>
            </a:r>
            <a:r>
              <a:rPr lang="en-IN" sz="1800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Final Placement Offer </a:t>
            </a:r>
          </a:p>
          <a:p>
            <a:r>
              <a:rPr lang="en-IN" sz="18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Eligibility: </a:t>
            </a:r>
            <a:r>
              <a:rPr lang="en-IN" sz="1800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Class of 2026 </a:t>
            </a:r>
            <a:r>
              <a:rPr lang="en-IN" sz="18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(Final Year Students)  | Format: </a:t>
            </a:r>
            <a:r>
              <a:rPr lang="en-IN" sz="1800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Individual Datathon</a:t>
            </a:r>
          </a:p>
          <a:p>
            <a:r>
              <a:rPr lang="en-IN" sz="18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Degree:</a:t>
            </a:r>
            <a:r>
              <a:rPr lang="en-IN" sz="1800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 </a:t>
            </a:r>
            <a:r>
              <a:rPr lang="en-IN" sz="1800" dirty="0" err="1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B.Tech</a:t>
            </a:r>
            <a:r>
              <a:rPr lang="en-IN" sz="1800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 Mechanical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80009-ED6F-1259-BD6B-A0CBDB48FB11}"/>
              </a:ext>
            </a:extLst>
          </p:cNvPr>
          <p:cNvSpPr txBox="1"/>
          <p:nvPr/>
        </p:nvSpPr>
        <p:spPr>
          <a:xfrm>
            <a:off x="175004" y="123815"/>
            <a:ext cx="62048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ubik" pitchFamily="2" charset="-79"/>
                <a:cs typeface="Rubik" pitchFamily="2" charset="-79"/>
              </a:rPr>
              <a:t>BFHL - DATATHON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620EBF-27C3-3350-4791-40D14B4FE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229" y="217714"/>
            <a:ext cx="1273051" cy="56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067F2E-914C-A808-CA84-DB62967E5330}"/>
              </a:ext>
            </a:extLst>
          </p:cNvPr>
          <p:cNvSpPr txBox="1">
            <a:spLocks/>
          </p:cNvSpPr>
          <p:nvPr/>
        </p:nvSpPr>
        <p:spPr>
          <a:xfrm>
            <a:off x="87085" y="4562489"/>
            <a:ext cx="10842171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ubik" pitchFamily="2" charset="-79"/>
              <a:cs typeface="Rubik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1412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43691DF-433F-B0CF-B6C0-350F7F86BB55}"/>
              </a:ext>
            </a:extLst>
          </p:cNvPr>
          <p:cNvSpPr txBox="1">
            <a:spLocks/>
          </p:cNvSpPr>
          <p:nvPr/>
        </p:nvSpPr>
        <p:spPr>
          <a:xfrm>
            <a:off x="175004" y="1590022"/>
            <a:ext cx="8968996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IN" sz="3600" b="1" dirty="0">
                <a:solidFill>
                  <a:srgbClr val="00FFFF"/>
                </a:solidFill>
                <a:latin typeface="Rubik" pitchFamily="2" charset="-79"/>
                <a:cs typeface="Rubik" pitchFamily="2" charset="-79"/>
              </a:rPr>
              <a:t>Tech Stack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CF13294-91CE-B754-9FBC-0BBFE0D07D77}"/>
              </a:ext>
            </a:extLst>
          </p:cNvPr>
          <p:cNvSpPr txBox="1">
            <a:spLocks/>
          </p:cNvSpPr>
          <p:nvPr/>
        </p:nvSpPr>
        <p:spPr>
          <a:xfrm>
            <a:off x="651145" y="2235319"/>
            <a:ext cx="11457432" cy="26567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Backend: Python, </a:t>
            </a:r>
            <a:r>
              <a:rPr lang="en-IN" sz="2400" dirty="0" err="1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FastAPI</a:t>
            </a:r>
            <a:r>
              <a:rPr lang="en-IN" sz="24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, </a:t>
            </a:r>
            <a:r>
              <a:rPr lang="en-IN" sz="2400" dirty="0" err="1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Uvicorn</a:t>
            </a:r>
            <a:r>
              <a:rPr lang="en-IN" sz="24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  </a:t>
            </a:r>
          </a:p>
          <a:p>
            <a:r>
              <a:rPr lang="en-IN" sz="24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LLM / OCR: Google Gemini (</a:t>
            </a:r>
            <a:r>
              <a:rPr lang="en-IN" sz="2400" dirty="0" err="1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files.upload</a:t>
            </a:r>
            <a:r>
              <a:rPr lang="en-IN" sz="24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 + </a:t>
            </a:r>
            <a:r>
              <a:rPr lang="en-IN" sz="2400" dirty="0" err="1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generate_content</a:t>
            </a:r>
            <a:r>
              <a:rPr lang="en-IN" sz="24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)  </a:t>
            </a:r>
          </a:p>
          <a:p>
            <a:r>
              <a:rPr lang="en-IN" sz="24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Deployment: Render (web service)  </a:t>
            </a:r>
          </a:p>
          <a:p>
            <a:r>
              <a:rPr lang="en-IN" sz="24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Utilities: </a:t>
            </a:r>
            <a:r>
              <a:rPr lang="en-IN" sz="2400" dirty="0" err="1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httpx</a:t>
            </a:r>
            <a:r>
              <a:rPr lang="en-IN" sz="24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, pdf2image (local), </a:t>
            </a:r>
            <a:r>
              <a:rPr lang="en-IN" sz="2400" dirty="0" err="1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pydantic</a:t>
            </a:r>
            <a:r>
              <a:rPr lang="en-IN" sz="24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  </a:t>
            </a:r>
          </a:p>
          <a:p>
            <a:r>
              <a:rPr lang="en-IN" sz="24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Monitoring: token usage per request returned in response</a:t>
            </a:r>
            <a:endParaRPr lang="en-IN" dirty="0">
              <a:solidFill>
                <a:prstClr val="white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C6945E-6BDD-DB60-5215-CB4BFAFB3F8A}"/>
              </a:ext>
            </a:extLst>
          </p:cNvPr>
          <p:cNvSpPr txBox="1"/>
          <p:nvPr/>
        </p:nvSpPr>
        <p:spPr>
          <a:xfrm>
            <a:off x="175004" y="123815"/>
            <a:ext cx="620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BFHL - DATATHON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2D2BBA-A49C-73C6-A95E-F38C7685D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229" y="217714"/>
            <a:ext cx="1273051" cy="56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C894D6-8391-39E0-2AA8-7B28289E62CE}"/>
              </a:ext>
            </a:extLst>
          </p:cNvPr>
          <p:cNvSpPr txBox="1"/>
          <p:nvPr/>
        </p:nvSpPr>
        <p:spPr>
          <a:xfrm>
            <a:off x="475488" y="5093208"/>
            <a:ext cx="10543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Speaker notes:</a:t>
            </a:r>
          </a:p>
          <a:p>
            <a:r>
              <a:rPr lang="en-US" dirty="0">
                <a:solidFill>
                  <a:schemeClr val="bg1"/>
                </a:solidFill>
              </a:rPr>
              <a:t>The pipeline is intentionally hybrid Gemini is used for page-wise OCR and minimal extraction; deterministic code enforces schema, deduplication and numeric integrity. This reduces hallucination risk and controls cost/latency.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A7852-D608-164C-C0D1-5C448BAC0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90098FB-FA45-FBAF-3417-A48F74520C52}"/>
              </a:ext>
            </a:extLst>
          </p:cNvPr>
          <p:cNvSpPr txBox="1">
            <a:spLocks/>
          </p:cNvSpPr>
          <p:nvPr/>
        </p:nvSpPr>
        <p:spPr>
          <a:xfrm>
            <a:off x="175004" y="542620"/>
            <a:ext cx="8968996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IN" sz="2000" b="1" dirty="0">
                <a:solidFill>
                  <a:srgbClr val="00FFFF"/>
                </a:solidFill>
                <a:latin typeface="Rubik" pitchFamily="2" charset="-79"/>
                <a:cs typeface="Rubik" pitchFamily="2" charset="-79"/>
              </a:rPr>
              <a:t>Detailed description of the solution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A906768-47DB-1081-ADB0-7664DCD63215}"/>
              </a:ext>
            </a:extLst>
          </p:cNvPr>
          <p:cNvSpPr txBox="1">
            <a:spLocks/>
          </p:cNvSpPr>
          <p:nvPr/>
        </p:nvSpPr>
        <p:spPr>
          <a:xfrm>
            <a:off x="0" y="2235318"/>
            <a:ext cx="11114314" cy="6452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>
              <a:solidFill>
                <a:prstClr val="white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7A2F57-4979-DD04-A5D5-EECE140A89EA}"/>
              </a:ext>
            </a:extLst>
          </p:cNvPr>
          <p:cNvSpPr txBox="1"/>
          <p:nvPr/>
        </p:nvSpPr>
        <p:spPr>
          <a:xfrm>
            <a:off x="74420" y="27501"/>
            <a:ext cx="620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BFHL - DATATHON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EFC8C7-2D22-0CA9-4EC3-EC8EAE4CF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229" y="217714"/>
            <a:ext cx="1273051" cy="56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10B652-7446-EAB2-C085-AEECF986C171}"/>
              </a:ext>
            </a:extLst>
          </p:cNvPr>
          <p:cNvSpPr/>
          <p:nvPr/>
        </p:nvSpPr>
        <p:spPr>
          <a:xfrm>
            <a:off x="6210083" y="1318804"/>
            <a:ext cx="2156677" cy="3422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External Caller / Scoring App|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FE87FF-C783-E8AC-0951-A8BD591E5B24}"/>
              </a:ext>
            </a:extLst>
          </p:cNvPr>
          <p:cNvSpPr/>
          <p:nvPr/>
        </p:nvSpPr>
        <p:spPr>
          <a:xfrm>
            <a:off x="8656685" y="1803140"/>
            <a:ext cx="2626069" cy="3381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 err="1"/>
              <a:t>FastAPI</a:t>
            </a:r>
            <a:r>
              <a:rPr lang="en-IN" sz="1200" dirty="0"/>
              <a:t> Backend (</a:t>
            </a:r>
            <a:r>
              <a:rPr lang="en-IN" sz="1200" dirty="0" err="1"/>
              <a:t>billing_extraction</a:t>
            </a:r>
            <a:r>
              <a:rPr lang="en-IN" sz="1200" dirty="0"/>
              <a:t>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2A514D-8E67-8556-3E7F-3D22FC1C975B}"/>
              </a:ext>
            </a:extLst>
          </p:cNvPr>
          <p:cNvSpPr/>
          <p:nvPr/>
        </p:nvSpPr>
        <p:spPr>
          <a:xfrm>
            <a:off x="6647252" y="5112026"/>
            <a:ext cx="3005545" cy="15282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Post-Processor (Python Deterministic)</a:t>
            </a:r>
          </a:p>
          <a:p>
            <a:r>
              <a:rPr lang="en-IN" sz="1200" dirty="0"/>
              <a:t>- Remove duplicates per page </a:t>
            </a:r>
          </a:p>
          <a:p>
            <a:r>
              <a:rPr lang="en-IN" sz="1200" dirty="0"/>
              <a:t>- Strip summary labels                </a:t>
            </a:r>
          </a:p>
          <a:p>
            <a:pPr marL="285750" indent="-285750">
              <a:buFontTx/>
              <a:buChar char="-"/>
            </a:pPr>
            <a:r>
              <a:rPr lang="en-IN" sz="1200" dirty="0"/>
              <a:t>Normalize </a:t>
            </a:r>
            <a:r>
              <a:rPr lang="en-IN" sz="1200" dirty="0" err="1"/>
              <a:t>numerics</a:t>
            </a:r>
            <a:r>
              <a:rPr lang="en-IN" sz="1200" dirty="0"/>
              <a:t> (float coercion)</a:t>
            </a:r>
          </a:p>
          <a:p>
            <a:pPr marL="285750" indent="-285750">
              <a:buFontTx/>
              <a:buChar char="-"/>
            </a:pPr>
            <a:r>
              <a:rPr lang="en-IN" sz="1200" dirty="0"/>
              <a:t>Calculate: </a:t>
            </a:r>
            <a:r>
              <a:rPr lang="en-IN" sz="1200" dirty="0">
                <a:solidFill>
                  <a:schemeClr val="bg1"/>
                </a:solidFill>
              </a:rPr>
              <a:t>          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 err="1"/>
              <a:t>total_item_count</a:t>
            </a:r>
            <a:r>
              <a:rPr lang="en-IN" sz="1200" dirty="0"/>
              <a:t>           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200" dirty="0" err="1"/>
              <a:t>reconciled_amount</a:t>
            </a:r>
            <a:endParaRPr lang="en-IN" sz="1200" dirty="0"/>
          </a:p>
          <a:p>
            <a:pPr marL="285750" indent="-285750">
              <a:buFontTx/>
              <a:buChar char="-"/>
            </a:pPr>
            <a:r>
              <a:rPr lang="en-IN" sz="1200" dirty="0"/>
              <a:t>Enforce strict response schema 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B50940-0556-6607-6215-CFC466AB57FA}"/>
              </a:ext>
            </a:extLst>
          </p:cNvPr>
          <p:cNvSpPr/>
          <p:nvPr/>
        </p:nvSpPr>
        <p:spPr>
          <a:xfrm>
            <a:off x="6566262" y="3852325"/>
            <a:ext cx="3086535" cy="8919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Gemini LLM - Line Item Extractor </a:t>
            </a:r>
          </a:p>
          <a:p>
            <a:pPr marL="285750" indent="-285750">
              <a:buFontTx/>
              <a:buChar char="-"/>
            </a:pPr>
            <a:r>
              <a:rPr lang="en-IN" sz="1200" dirty="0"/>
              <a:t>Detects service/medicine/charge rows</a:t>
            </a:r>
          </a:p>
          <a:p>
            <a:pPr marL="285750" indent="-285750">
              <a:buFontTx/>
              <a:buChar char="-"/>
            </a:pPr>
            <a:r>
              <a:rPr lang="en-IN" sz="1200" dirty="0"/>
              <a:t> </a:t>
            </a:r>
            <a:r>
              <a:rPr lang="en-IN" sz="1200" dirty="0" err="1"/>
              <a:t>item_name</a:t>
            </a:r>
            <a:r>
              <a:rPr lang="en-IN" sz="1200" dirty="0"/>
              <a:t> / amount / rate / qty </a:t>
            </a:r>
          </a:p>
          <a:p>
            <a:pPr marL="285750" indent="-285750">
              <a:buFontTx/>
              <a:buChar char="-"/>
            </a:pPr>
            <a:r>
              <a:rPr lang="en-IN" sz="1200" dirty="0"/>
              <a:t> Excludes totals where identified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791D8A-3895-EC7C-29FA-1E3809BC04DB}"/>
              </a:ext>
            </a:extLst>
          </p:cNvPr>
          <p:cNvSpPr/>
          <p:nvPr/>
        </p:nvSpPr>
        <p:spPr>
          <a:xfrm>
            <a:off x="10500071" y="5703935"/>
            <a:ext cx="1565366" cy="3444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 Response to Caller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F83FE8-2609-2A7F-0751-62AA981FA225}"/>
              </a:ext>
            </a:extLst>
          </p:cNvPr>
          <p:cNvSpPr/>
          <p:nvPr/>
        </p:nvSpPr>
        <p:spPr>
          <a:xfrm>
            <a:off x="6349746" y="2385083"/>
            <a:ext cx="2946544" cy="5364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Gemini Vision OCR (Page-wise) </a:t>
            </a:r>
          </a:p>
          <a:p>
            <a:pPr algn="ctr"/>
            <a:r>
              <a:rPr lang="en-IN" sz="1200" dirty="0"/>
              <a:t>-Outputs JSON: pages[], text, order 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8C8A798-C9B0-2D3E-1D9B-4A7B842A6A07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8366760" y="1489910"/>
            <a:ext cx="1602960" cy="3132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F830C9B7-5FC0-5E23-B6E7-F95201E73201}"/>
              </a:ext>
            </a:extLst>
          </p:cNvPr>
          <p:cNvCxnSpPr>
            <a:cxnSpLocks/>
            <a:stCxn id="5" idx="1"/>
            <a:endCxn id="27" idx="3"/>
          </p:cNvCxnSpPr>
          <p:nvPr/>
        </p:nvCxnSpPr>
        <p:spPr>
          <a:xfrm rot="10800000">
            <a:off x="8400343" y="1967767"/>
            <a:ext cx="256342" cy="44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D6628D2-10A4-0C3A-CE8C-D3E82BF27A92}"/>
              </a:ext>
            </a:extLst>
          </p:cNvPr>
          <p:cNvCxnSpPr>
            <a:cxnSpLocks/>
            <a:stCxn id="5" idx="2"/>
            <a:endCxn id="26" idx="0"/>
          </p:cNvCxnSpPr>
          <p:nvPr/>
        </p:nvCxnSpPr>
        <p:spPr>
          <a:xfrm rot="16200000" flipH="1">
            <a:off x="9788613" y="2322387"/>
            <a:ext cx="1188587" cy="8263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1CCE6C59-A2B2-DDF8-9A73-134572AF65AB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 rot="16200000" flipH="1">
            <a:off x="7500879" y="3243674"/>
            <a:ext cx="930790" cy="2865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9F2A830-8E3B-B557-059E-3D5341846066}"/>
              </a:ext>
            </a:extLst>
          </p:cNvPr>
          <p:cNvSpPr/>
          <p:nvPr/>
        </p:nvSpPr>
        <p:spPr>
          <a:xfrm>
            <a:off x="9695437" y="3329868"/>
            <a:ext cx="2201312" cy="3094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Download PDF/IMG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541178B-DA39-7051-4758-EA8E5B3D3E90}"/>
              </a:ext>
            </a:extLst>
          </p:cNvPr>
          <p:cNvSpPr/>
          <p:nvPr/>
        </p:nvSpPr>
        <p:spPr>
          <a:xfrm>
            <a:off x="6176499" y="1813034"/>
            <a:ext cx="2223844" cy="3094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Upload to Gemini Files API</a:t>
            </a:r>
            <a:endParaRPr lang="en-IN" sz="12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0C52E8B-2CF3-4E30-E8AE-BD830B3EFD21}"/>
              </a:ext>
            </a:extLst>
          </p:cNvPr>
          <p:cNvSpPr/>
          <p:nvPr/>
        </p:nvSpPr>
        <p:spPr>
          <a:xfrm>
            <a:off x="9989990" y="3928016"/>
            <a:ext cx="1927029" cy="4170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Gemini returns </a:t>
            </a:r>
            <a:r>
              <a:rPr lang="en-IN" sz="1200" dirty="0" err="1"/>
              <a:t>FileID</a:t>
            </a:r>
            <a:r>
              <a:rPr lang="en-IN" sz="1200" dirty="0"/>
              <a:t> reference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D4DD00ED-9398-C039-46EE-21EB8BAD5C6F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>
          <a:xfrm rot="16200000" flipH="1">
            <a:off x="10730458" y="3704969"/>
            <a:ext cx="288682" cy="1574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5133C85D-772D-18FE-877D-FD8A0DA7F171}"/>
              </a:ext>
            </a:extLst>
          </p:cNvPr>
          <p:cNvCxnSpPr>
            <a:cxnSpLocks/>
            <a:stCxn id="26" idx="1"/>
            <a:endCxn id="12" idx="3"/>
          </p:cNvCxnSpPr>
          <p:nvPr/>
        </p:nvCxnSpPr>
        <p:spPr>
          <a:xfrm rot="10800000">
            <a:off x="9296291" y="2653309"/>
            <a:ext cx="399147" cy="8312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F34DE327-17CA-0D68-42CC-AC9F4BA9EC06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 rot="16200000" flipH="1">
            <a:off x="7945915" y="4907915"/>
            <a:ext cx="367725" cy="404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999B92EE-01E0-9597-50AF-4993F939FC46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9652797" y="5876174"/>
            <a:ext cx="847274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A9A3A2D-337F-2E5D-0C81-6DB652CAB2A7}"/>
              </a:ext>
            </a:extLst>
          </p:cNvPr>
          <p:cNvSpPr txBox="1"/>
          <p:nvPr/>
        </p:nvSpPr>
        <p:spPr>
          <a:xfrm>
            <a:off x="9695436" y="5962471"/>
            <a:ext cx="8472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</a:rPr>
              <a:t> Final </a:t>
            </a:r>
            <a:r>
              <a:rPr lang="en-IN" sz="800" dirty="0" err="1">
                <a:solidFill>
                  <a:schemeClr val="bg1"/>
                </a:solidFill>
              </a:rPr>
              <a:t>HackRx</a:t>
            </a:r>
            <a:r>
              <a:rPr lang="en-IN" sz="800" dirty="0">
                <a:solidFill>
                  <a:schemeClr val="bg1"/>
                </a:solidFill>
              </a:rPr>
              <a:t> JSON + </a:t>
            </a:r>
            <a:r>
              <a:rPr lang="en-IN" sz="800" dirty="0" err="1">
                <a:solidFill>
                  <a:schemeClr val="bg1"/>
                </a:solidFill>
              </a:rPr>
              <a:t>token_usage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F17151-97B6-2D40-08BC-D631068110A9}"/>
              </a:ext>
            </a:extLst>
          </p:cNvPr>
          <p:cNvSpPr txBox="1"/>
          <p:nvPr/>
        </p:nvSpPr>
        <p:spPr>
          <a:xfrm>
            <a:off x="8197848" y="4758885"/>
            <a:ext cx="8472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Raw JSON (AI output)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0860B8-5110-B309-DEE9-9FE2B3502BBB}"/>
              </a:ext>
            </a:extLst>
          </p:cNvPr>
          <p:cNvSpPr txBox="1"/>
          <p:nvPr/>
        </p:nvSpPr>
        <p:spPr>
          <a:xfrm>
            <a:off x="6975744" y="3071300"/>
            <a:ext cx="8472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(Pass OCR text to Parsing Prompt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BF91B0BB-3DC6-C136-1051-CEA855EC7A38}"/>
              </a:ext>
            </a:extLst>
          </p:cNvPr>
          <p:cNvSpPr txBox="1"/>
          <p:nvPr/>
        </p:nvSpPr>
        <p:spPr>
          <a:xfrm>
            <a:off x="10076434" y="1208286"/>
            <a:ext cx="847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POST Request with {document: URL}</a:t>
            </a:r>
          </a:p>
        </p:txBody>
      </p:sp>
      <p:sp>
        <p:nvSpPr>
          <p:cNvPr id="1038" name="Rectangle 5">
            <a:extLst>
              <a:ext uri="{FF2B5EF4-FFF2-40B4-BE49-F238E27FC236}">
                <a16:creationId xmlns:a16="http://schemas.microsoft.com/office/drawing/2014/main" id="{D895FE07-2FC1-6E87-48DE-2658BC373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554" y="1438729"/>
            <a:ext cx="5865774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Fully automated system to extract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all billable charges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from scanned medical invoices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Handles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multi-page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bills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different layouts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(Pharmacy, Bill Detail, Final Bill)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Hybrid pipeline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Vision OCR + LLM semantic extraction + deterministic validation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Subtotal removal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duplicate detection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prevents double counting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Reconciled total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computed from individual items (primary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HackRx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score metric)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Financial data integrity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item_amount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item_rate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× quantity enforced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Strict JSON schema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matches scoring engine requirements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Stateless, scalable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service deployed on Render (cloud)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Works with any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public PDF link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returns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clean structured data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612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C15B1-FBB9-6EDB-4A64-8E00071B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0916531-B44A-3494-6205-F61B081F1BF6}"/>
              </a:ext>
            </a:extLst>
          </p:cNvPr>
          <p:cNvSpPr txBox="1">
            <a:spLocks/>
          </p:cNvSpPr>
          <p:nvPr/>
        </p:nvSpPr>
        <p:spPr>
          <a:xfrm>
            <a:off x="175004" y="708590"/>
            <a:ext cx="8968996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IN" sz="2400" b="1" dirty="0">
                <a:solidFill>
                  <a:srgbClr val="00FFFF"/>
                </a:solidFill>
                <a:latin typeface="Rubik" pitchFamily="2" charset="-79"/>
                <a:cs typeface="Rubik" pitchFamily="2" charset="-79"/>
              </a:rPr>
              <a:t>Data Flow Diagram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A4185A5-F867-67C4-B430-697BBFF9C073}"/>
              </a:ext>
            </a:extLst>
          </p:cNvPr>
          <p:cNvSpPr txBox="1">
            <a:spLocks/>
          </p:cNvSpPr>
          <p:nvPr/>
        </p:nvSpPr>
        <p:spPr>
          <a:xfrm>
            <a:off x="175004" y="1293365"/>
            <a:ext cx="5768596" cy="51714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b="1" dirty="0">
                <a:solidFill>
                  <a:schemeClr val="bg1"/>
                </a:solidFill>
              </a:rPr>
              <a:t>User / System Input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Sends </a:t>
            </a:r>
            <a:r>
              <a:rPr lang="en-IN" sz="1400" dirty="0">
                <a:solidFill>
                  <a:schemeClr val="bg1"/>
                </a:solidFill>
              </a:rPr>
              <a:t>POST /extract-bill-data</a:t>
            </a:r>
            <a:r>
              <a:rPr lang="en-IN" sz="1200" dirty="0">
                <a:solidFill>
                  <a:schemeClr val="bg1"/>
                </a:solidFill>
              </a:rPr>
              <a:t> with </a:t>
            </a:r>
            <a:r>
              <a:rPr lang="en-IN" sz="1200" b="1" dirty="0">
                <a:solidFill>
                  <a:schemeClr val="bg1"/>
                </a:solidFill>
              </a:rPr>
              <a:t>public PDF URL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Document Fetching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Backend downloads file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Verifies accessibility + file type</a:t>
            </a:r>
          </a:p>
          <a:p>
            <a:r>
              <a:rPr lang="en-IN" sz="1200" b="1" dirty="0">
                <a:solidFill>
                  <a:schemeClr val="bg1"/>
                </a:solidFill>
              </a:rPr>
              <a:t>Gemini File Upload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PDF streamed to Gemini Files API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Returns File Reference ID</a:t>
            </a:r>
          </a:p>
          <a:p>
            <a:r>
              <a:rPr lang="en-IN" sz="1200" b="1" dirty="0">
                <a:solidFill>
                  <a:schemeClr val="bg1"/>
                </a:solidFill>
              </a:rPr>
              <a:t>OCR Stage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Gemini Vision extracts </a:t>
            </a:r>
            <a:r>
              <a:rPr lang="en-IN" sz="1200" b="1" dirty="0">
                <a:solidFill>
                  <a:schemeClr val="bg1"/>
                </a:solidFill>
              </a:rPr>
              <a:t>page-wise text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Maintains </a:t>
            </a:r>
            <a:r>
              <a:rPr lang="en-IN" sz="1200" b="1" dirty="0">
                <a:solidFill>
                  <a:schemeClr val="bg1"/>
                </a:solidFill>
              </a:rPr>
              <a:t>order</a:t>
            </a:r>
            <a:r>
              <a:rPr lang="en-IN" sz="1200" dirty="0">
                <a:solidFill>
                  <a:schemeClr val="bg1"/>
                </a:solidFill>
              </a:rPr>
              <a:t> + </a:t>
            </a:r>
            <a:r>
              <a:rPr lang="en-IN" sz="1200" b="1" dirty="0">
                <a:solidFill>
                  <a:schemeClr val="bg1"/>
                </a:solidFill>
              </a:rPr>
              <a:t>page mapping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LLM Parsing Stage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Prompts Gemini to </a:t>
            </a:r>
            <a:r>
              <a:rPr lang="en-IN" sz="1200" b="1" dirty="0">
                <a:solidFill>
                  <a:schemeClr val="bg1"/>
                </a:solidFill>
              </a:rPr>
              <a:t>identify billable item rows only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Outputs structured </a:t>
            </a:r>
            <a:r>
              <a:rPr lang="en-IN" sz="1200" b="1" dirty="0" err="1">
                <a:solidFill>
                  <a:schemeClr val="bg1"/>
                </a:solidFill>
              </a:rPr>
              <a:t>item_name</a:t>
            </a:r>
            <a:r>
              <a:rPr lang="en-IN" sz="1200" b="1" dirty="0">
                <a:solidFill>
                  <a:schemeClr val="bg1"/>
                </a:solidFill>
              </a:rPr>
              <a:t> / qty / rate / amount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Post-Processing Engine</a:t>
            </a:r>
            <a:r>
              <a:rPr lang="en-IN" sz="1200" dirty="0">
                <a:solidFill>
                  <a:schemeClr val="bg1"/>
                </a:solidFill>
              </a:rPr>
              <a:t> (Deterministic Rules)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Remove totals (“Sub Total”, “Grand Total”, “Net Payable”)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</a:t>
            </a:r>
            <a:r>
              <a:rPr lang="en-IN" sz="1200" b="1" dirty="0">
                <a:solidFill>
                  <a:schemeClr val="bg1"/>
                </a:solidFill>
              </a:rPr>
              <a:t>Deduplicate</a:t>
            </a:r>
            <a:r>
              <a:rPr lang="en-IN" sz="1200" dirty="0">
                <a:solidFill>
                  <a:schemeClr val="bg1"/>
                </a:solidFill>
              </a:rPr>
              <a:t> repeated entries on same page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Normalize numbers → convert all to </a:t>
            </a:r>
            <a:r>
              <a:rPr lang="en-IN" sz="1200" b="1" dirty="0">
                <a:solidFill>
                  <a:schemeClr val="bg1"/>
                </a:solidFill>
              </a:rPr>
              <a:t>float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Validate </a:t>
            </a:r>
            <a:r>
              <a:rPr lang="en-IN" sz="1400" dirty="0" err="1">
                <a:solidFill>
                  <a:schemeClr val="bg1"/>
                </a:solidFill>
              </a:rPr>
              <a:t>item_amount</a:t>
            </a:r>
            <a:r>
              <a:rPr lang="en-IN" sz="1400" dirty="0">
                <a:solidFill>
                  <a:schemeClr val="bg1"/>
                </a:solidFill>
              </a:rPr>
              <a:t> = </a:t>
            </a:r>
            <a:r>
              <a:rPr lang="en-IN" sz="1400" dirty="0" err="1">
                <a:solidFill>
                  <a:schemeClr val="bg1"/>
                </a:solidFill>
              </a:rPr>
              <a:t>item_rate</a:t>
            </a:r>
            <a:r>
              <a:rPr lang="en-IN" sz="1400" dirty="0">
                <a:solidFill>
                  <a:schemeClr val="bg1"/>
                </a:solidFill>
              </a:rPr>
              <a:t> × qty</a:t>
            </a:r>
            <a:r>
              <a:rPr lang="en-IN" sz="1200" dirty="0">
                <a:solidFill>
                  <a:schemeClr val="bg1"/>
                </a:solidFill>
              </a:rPr>
              <a:t> where possible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</a:t>
            </a:r>
            <a:r>
              <a:rPr lang="en-IN" sz="1200" b="1" dirty="0">
                <a:solidFill>
                  <a:schemeClr val="bg1"/>
                </a:solidFill>
              </a:rPr>
              <a:t>Compute </a:t>
            </a:r>
            <a:r>
              <a:rPr lang="en-IN" sz="1200" b="1" dirty="0" err="1">
                <a:solidFill>
                  <a:schemeClr val="bg1"/>
                </a:solidFill>
              </a:rPr>
              <a:t>reconciled_amount</a:t>
            </a:r>
            <a:r>
              <a:rPr lang="en-IN" sz="1200" dirty="0">
                <a:solidFill>
                  <a:schemeClr val="bg1"/>
                </a:solidFill>
              </a:rPr>
              <a:t> and </a:t>
            </a:r>
            <a:r>
              <a:rPr lang="en-IN" sz="1200" b="1" dirty="0" err="1">
                <a:solidFill>
                  <a:schemeClr val="bg1"/>
                </a:solidFill>
              </a:rPr>
              <a:t>total_item_count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Response Formatter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Wrap result in </a:t>
            </a:r>
            <a:r>
              <a:rPr lang="en-IN" sz="1200" b="1" dirty="0" err="1">
                <a:solidFill>
                  <a:schemeClr val="bg1"/>
                </a:solidFill>
              </a:rPr>
              <a:t>HackRx</a:t>
            </a:r>
            <a:r>
              <a:rPr lang="en-IN" sz="1200" b="1" dirty="0">
                <a:solidFill>
                  <a:schemeClr val="bg1"/>
                </a:solidFill>
              </a:rPr>
              <a:t> JSON Schema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Include </a:t>
            </a:r>
            <a:r>
              <a:rPr lang="en-IN" sz="1200" b="1" dirty="0" err="1">
                <a:solidFill>
                  <a:schemeClr val="bg1"/>
                </a:solidFill>
              </a:rPr>
              <a:t>token_usage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Final Output to Judge System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• Single </a:t>
            </a:r>
            <a:r>
              <a:rPr lang="en-IN" sz="1200" b="1" dirty="0">
                <a:solidFill>
                  <a:schemeClr val="bg1"/>
                </a:solidFill>
              </a:rPr>
              <a:t>scoring-ready JSON</a:t>
            </a:r>
            <a:r>
              <a:rPr lang="en-IN" sz="1200" dirty="0">
                <a:solidFill>
                  <a:schemeClr val="bg1"/>
                </a:solidFill>
              </a:rPr>
              <a:t> returned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12A832-8A42-F1D3-F024-B455953EDC8D}"/>
              </a:ext>
            </a:extLst>
          </p:cNvPr>
          <p:cNvSpPr txBox="1"/>
          <p:nvPr/>
        </p:nvSpPr>
        <p:spPr>
          <a:xfrm>
            <a:off x="175004" y="123815"/>
            <a:ext cx="620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BFHL - DATATHON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5F66AE-A447-8328-FE87-69F16BFE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229" y="217714"/>
            <a:ext cx="1273051" cy="56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4DA877-A721-4B7D-60CB-8722B98D07D5}"/>
              </a:ext>
            </a:extLst>
          </p:cNvPr>
          <p:cNvSpPr/>
          <p:nvPr/>
        </p:nvSpPr>
        <p:spPr>
          <a:xfrm>
            <a:off x="8226551" y="5725671"/>
            <a:ext cx="1993391" cy="618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Strict </a:t>
            </a:r>
            <a:r>
              <a:rPr lang="en-US" sz="1200" dirty="0" err="1"/>
              <a:t>HackRx</a:t>
            </a:r>
            <a:r>
              <a:rPr lang="en-US" sz="1200" dirty="0"/>
              <a:t> JSON Response</a:t>
            </a:r>
          </a:p>
          <a:p>
            <a:pPr algn="ctr"/>
            <a:r>
              <a:rPr lang="en-US" sz="1200" dirty="0"/>
              <a:t>(with token usage)</a:t>
            </a:r>
            <a:endParaRPr lang="en-IN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473AFD-545F-68F2-642A-AADCB2E15B7F}"/>
              </a:ext>
            </a:extLst>
          </p:cNvPr>
          <p:cNvSpPr/>
          <p:nvPr/>
        </p:nvSpPr>
        <p:spPr>
          <a:xfrm>
            <a:off x="8226551" y="4307984"/>
            <a:ext cx="1799844" cy="1039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Post-processing Layer</a:t>
            </a:r>
          </a:p>
          <a:p>
            <a:pPr algn="ctr"/>
            <a:r>
              <a:rPr lang="en-US" sz="1200" dirty="0"/>
              <a:t>- Dedupe</a:t>
            </a:r>
          </a:p>
          <a:p>
            <a:pPr algn="ctr"/>
            <a:r>
              <a:rPr lang="en-US" sz="1200" dirty="0"/>
              <a:t>- Remove totals</a:t>
            </a:r>
          </a:p>
          <a:p>
            <a:pPr algn="ctr"/>
            <a:r>
              <a:rPr lang="en-US" sz="1200" dirty="0"/>
              <a:t>- Numeric validation</a:t>
            </a:r>
          </a:p>
          <a:p>
            <a:pPr algn="ctr"/>
            <a:r>
              <a:rPr lang="en-US" sz="1200" dirty="0"/>
              <a:t>- Totals reconciliation</a:t>
            </a:r>
            <a:endParaRPr lang="en-IN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A35EB1-445A-FE36-5CEB-AE114EBBFF47}"/>
              </a:ext>
            </a:extLst>
          </p:cNvPr>
          <p:cNvSpPr/>
          <p:nvPr/>
        </p:nvSpPr>
        <p:spPr>
          <a:xfrm>
            <a:off x="8226551" y="3760763"/>
            <a:ext cx="2176272" cy="303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Gemini Line-Item Parsing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6270A6-2E97-9046-27BE-3B29E4227120}"/>
              </a:ext>
            </a:extLst>
          </p:cNvPr>
          <p:cNvSpPr/>
          <p:nvPr/>
        </p:nvSpPr>
        <p:spPr>
          <a:xfrm>
            <a:off x="8231122" y="3217676"/>
            <a:ext cx="2226564" cy="328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Gemini OCR (Pages JSON)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AE1573-B8E8-DE1C-3D4E-7A3795BED59A}"/>
              </a:ext>
            </a:extLst>
          </p:cNvPr>
          <p:cNvSpPr/>
          <p:nvPr/>
        </p:nvSpPr>
        <p:spPr>
          <a:xfrm>
            <a:off x="8226551" y="2637575"/>
            <a:ext cx="1731264" cy="4048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Gemini File Upload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828B20-E40C-D692-E6DB-CDC14016D11C}"/>
              </a:ext>
            </a:extLst>
          </p:cNvPr>
          <p:cNvSpPr/>
          <p:nvPr/>
        </p:nvSpPr>
        <p:spPr>
          <a:xfrm>
            <a:off x="8226551" y="1937788"/>
            <a:ext cx="2322576" cy="49841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FastAPI</a:t>
            </a:r>
            <a:r>
              <a:rPr lang="en-IN" dirty="0"/>
              <a:t> Backend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060BF1-AE1F-6C38-355D-CE18AE38C262}"/>
              </a:ext>
            </a:extLst>
          </p:cNvPr>
          <p:cNvSpPr/>
          <p:nvPr/>
        </p:nvSpPr>
        <p:spPr>
          <a:xfrm>
            <a:off x="8226551" y="1480028"/>
            <a:ext cx="1627632" cy="2896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POST request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0852E8-F4BE-2F4A-7BB1-6426885CE6CE}"/>
              </a:ext>
            </a:extLst>
          </p:cNvPr>
          <p:cNvSpPr/>
          <p:nvPr/>
        </p:nvSpPr>
        <p:spPr>
          <a:xfrm>
            <a:off x="8226551" y="1000649"/>
            <a:ext cx="1487423" cy="311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User (PDF URL)</a:t>
            </a:r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2F3AC12-5655-526F-45DF-8A097993FA91}"/>
              </a:ext>
            </a:extLst>
          </p:cNvPr>
          <p:cNvSpPr/>
          <p:nvPr/>
        </p:nvSpPr>
        <p:spPr>
          <a:xfrm>
            <a:off x="6793992" y="932688"/>
            <a:ext cx="731520" cy="54115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174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55B05-A62B-77EB-BC75-4B95CB9A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DF63C69-D04D-070A-4422-8F626A2C7186}"/>
              </a:ext>
            </a:extLst>
          </p:cNvPr>
          <p:cNvSpPr txBox="1">
            <a:spLocks/>
          </p:cNvSpPr>
          <p:nvPr/>
        </p:nvSpPr>
        <p:spPr>
          <a:xfrm>
            <a:off x="175004" y="662299"/>
            <a:ext cx="8968996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IN" sz="2400" b="1" dirty="0">
                <a:solidFill>
                  <a:srgbClr val="00FFFF"/>
                </a:solidFill>
                <a:latin typeface="Rubik" pitchFamily="2" charset="-79"/>
                <a:cs typeface="Rubik" pitchFamily="2" charset="-79"/>
              </a:rPr>
              <a:t>So, how is your solution different?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C8BB0E-0E32-F711-F42E-DCCF88D53A3B}"/>
              </a:ext>
            </a:extLst>
          </p:cNvPr>
          <p:cNvSpPr txBox="1">
            <a:spLocks/>
          </p:cNvSpPr>
          <p:nvPr/>
        </p:nvSpPr>
        <p:spPr>
          <a:xfrm>
            <a:off x="0" y="2235318"/>
            <a:ext cx="11114314" cy="6452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000" dirty="0">
              <a:solidFill>
                <a:prstClr val="white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86810C-9701-6769-CF02-1F0E13B03D1B}"/>
              </a:ext>
            </a:extLst>
          </p:cNvPr>
          <p:cNvSpPr txBox="1"/>
          <p:nvPr/>
        </p:nvSpPr>
        <p:spPr>
          <a:xfrm>
            <a:off x="175004" y="123815"/>
            <a:ext cx="620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BFHL - DATATHON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C2F2D9-FB57-AC43-D085-C55CE46BC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229" y="217714"/>
            <a:ext cx="1273051" cy="56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4FEA8B-3E9D-C607-D8AA-5559971EB88F}"/>
              </a:ext>
            </a:extLst>
          </p:cNvPr>
          <p:cNvSpPr txBox="1"/>
          <p:nvPr/>
        </p:nvSpPr>
        <p:spPr>
          <a:xfrm>
            <a:off x="384048" y="1787577"/>
            <a:ext cx="4480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1. Hybrid AI + Deterministic Financial Logic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Most teams rely fully on LLM extraction. We split responsibility smartly:</a:t>
            </a:r>
          </a:p>
          <a:p>
            <a:pPr lvl="1"/>
            <a:r>
              <a:rPr lang="en-IN" sz="1200" b="1" dirty="0">
                <a:solidFill>
                  <a:schemeClr val="bg1"/>
                </a:solidFill>
              </a:rPr>
              <a:t>Task:</a:t>
            </a:r>
            <a:r>
              <a:rPr lang="en-IN" sz="1200" dirty="0">
                <a:solidFill>
                  <a:schemeClr val="bg1"/>
                </a:solidFill>
              </a:rPr>
              <a:t> Text reading (Gemini OCR, High recall).</a:t>
            </a:r>
          </a:p>
          <a:p>
            <a:pPr lvl="1"/>
            <a:r>
              <a:rPr lang="en-IN" sz="1200" b="1" dirty="0">
                <a:solidFill>
                  <a:schemeClr val="bg1"/>
                </a:solidFill>
              </a:rPr>
              <a:t>Understanding:</a:t>
            </a:r>
            <a:r>
              <a:rPr lang="en-IN" sz="1200" dirty="0">
                <a:solidFill>
                  <a:schemeClr val="bg1"/>
                </a:solidFill>
              </a:rPr>
              <a:t> Bill item semantics (Gemini LLM).</a:t>
            </a:r>
          </a:p>
          <a:p>
            <a:pPr lvl="1"/>
            <a:r>
              <a:rPr lang="en-IN" sz="1200" b="1" dirty="0">
                <a:solidFill>
                  <a:schemeClr val="bg1"/>
                </a:solidFill>
              </a:rPr>
              <a:t>Correctness:</a:t>
            </a:r>
            <a:r>
              <a:rPr lang="en-IN" sz="1200" dirty="0">
                <a:solidFill>
                  <a:schemeClr val="bg1"/>
                </a:solidFill>
              </a:rPr>
              <a:t> Financial logic (Our business rules, No hallucination).</a:t>
            </a:r>
          </a:p>
          <a:p>
            <a:r>
              <a:rPr lang="en-IN" sz="1200" i="1" dirty="0">
                <a:solidFill>
                  <a:schemeClr val="bg1"/>
                </a:solidFill>
              </a:rPr>
              <a:t>Result:</a:t>
            </a:r>
            <a:r>
              <a:rPr lang="en-IN" sz="1200" dirty="0">
                <a:solidFill>
                  <a:schemeClr val="bg1"/>
                </a:solidFill>
              </a:rPr>
              <a:t> AI extracts, Rules validate &amp; correct.</a:t>
            </a: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E1F88-74B0-522F-DE1A-7E494AE85DB9}"/>
              </a:ext>
            </a:extLst>
          </p:cNvPr>
          <p:cNvSpPr txBox="1"/>
          <p:nvPr/>
        </p:nvSpPr>
        <p:spPr>
          <a:xfrm>
            <a:off x="384048" y="3657704"/>
            <a:ext cx="4480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2. Zero-Tolerance Double Counting Prevention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The problem specifically penalizes double totals. Our design includes:</a:t>
            </a:r>
          </a:p>
          <a:p>
            <a:pPr lvl="1"/>
            <a:r>
              <a:rPr lang="en-IN" sz="1200" dirty="0">
                <a:solidFill>
                  <a:schemeClr val="bg1"/>
                </a:solidFill>
              </a:rPr>
              <a:t>✔ Page-wise subtotal removal</a:t>
            </a:r>
          </a:p>
          <a:p>
            <a:pPr lvl="1"/>
            <a:r>
              <a:rPr lang="en-IN" sz="1200" dirty="0">
                <a:solidFill>
                  <a:schemeClr val="bg1"/>
                </a:solidFill>
              </a:rPr>
              <a:t>✔ Duplicate merging rule</a:t>
            </a:r>
          </a:p>
          <a:p>
            <a:pPr lvl="1"/>
            <a:r>
              <a:rPr lang="en-IN" sz="1200" dirty="0">
                <a:solidFill>
                  <a:schemeClr val="bg1"/>
                </a:solidFill>
              </a:rPr>
              <a:t>✔ Rate × Qty validation</a:t>
            </a:r>
          </a:p>
          <a:p>
            <a:pPr lvl="1"/>
            <a:r>
              <a:rPr lang="en-IN" sz="1200" dirty="0">
                <a:solidFill>
                  <a:schemeClr val="bg1"/>
                </a:solidFill>
              </a:rPr>
              <a:t>✔ Line-item presence &gt; summary presence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CF332-AD33-DBCF-274F-1540800029A5}"/>
              </a:ext>
            </a:extLst>
          </p:cNvPr>
          <p:cNvSpPr txBox="1"/>
          <p:nvPr/>
        </p:nvSpPr>
        <p:spPr>
          <a:xfrm>
            <a:off x="384048" y="5274302"/>
            <a:ext cx="44805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3. Strict Schema Enforcement → Always Scoring-Compatible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LLMs often respond with invalid JSON. We enforce the final schema via code:</a:t>
            </a:r>
          </a:p>
          <a:p>
            <a:pPr lvl="1"/>
            <a:r>
              <a:rPr lang="en-IN" sz="1200" dirty="0">
                <a:solidFill>
                  <a:schemeClr val="bg1"/>
                </a:solidFill>
              </a:rPr>
              <a:t>Guaranteed structure, numeric types, and required fields.</a:t>
            </a:r>
          </a:p>
          <a:p>
            <a:pPr lvl="1"/>
            <a:r>
              <a:rPr lang="en-IN" sz="1200" dirty="0">
                <a:solidFill>
                  <a:schemeClr val="bg1"/>
                </a:solidFill>
              </a:rPr>
              <a:t>No malformed JSON → </a:t>
            </a:r>
            <a:r>
              <a:rPr lang="en-IN" sz="1200" b="1" dirty="0">
                <a:solidFill>
                  <a:schemeClr val="bg1"/>
                </a:solidFill>
              </a:rPr>
              <a:t>No scoring failures.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257A11-D922-D441-C28F-AA2929D6B664}"/>
              </a:ext>
            </a:extLst>
          </p:cNvPr>
          <p:cNvSpPr txBox="1"/>
          <p:nvPr/>
        </p:nvSpPr>
        <p:spPr>
          <a:xfrm>
            <a:off x="5401056" y="1804542"/>
            <a:ext cx="4480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4. Token-Optimized Architecture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2-call model:</a:t>
            </a:r>
            <a:r>
              <a:rPr lang="en-US" sz="1200" dirty="0">
                <a:solidFill>
                  <a:schemeClr val="bg1"/>
                </a:solidFill>
              </a:rPr>
              <a:t> One OCR + One lean parser.</a:t>
            </a:r>
          </a:p>
          <a:p>
            <a:r>
              <a:rPr lang="en-US" sz="1200" dirty="0">
                <a:solidFill>
                  <a:schemeClr val="bg1"/>
                </a:solidFill>
              </a:rPr>
              <a:t>Low latency + cost + hallucination risk.</a:t>
            </a:r>
          </a:p>
          <a:p>
            <a:r>
              <a:rPr lang="en-US" sz="1200" dirty="0">
                <a:solidFill>
                  <a:schemeClr val="bg1"/>
                </a:solidFill>
              </a:rPr>
              <a:t>Highly efficient for production scaling.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BF7830-B24A-08E8-25F9-08952D186BB8}"/>
              </a:ext>
            </a:extLst>
          </p:cNvPr>
          <p:cNvSpPr txBox="1"/>
          <p:nvPr/>
        </p:nvSpPr>
        <p:spPr>
          <a:xfrm>
            <a:off x="5401056" y="2977340"/>
            <a:ext cx="4480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5. Fully Stateless + Secure Design</a:t>
            </a: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No document stored. No PHI retained.</a:t>
            </a:r>
          </a:p>
          <a:p>
            <a:r>
              <a:rPr lang="en-US" sz="1200" dirty="0">
                <a:solidFill>
                  <a:schemeClr val="bg1"/>
                </a:solidFill>
              </a:rPr>
              <a:t>Can scale horizontally with zero session awareness.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Enterprise-ready for hospitals/TPAs.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BFAA21-AF82-2A7B-D014-DD2CA16E60A3}"/>
              </a:ext>
            </a:extLst>
          </p:cNvPr>
          <p:cNvSpPr txBox="1"/>
          <p:nvPr/>
        </p:nvSpPr>
        <p:spPr>
          <a:xfrm>
            <a:off x="5401056" y="4165536"/>
            <a:ext cx="4480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6. Human-Audit Friendly Output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Cleaner + normalized + financially auditable JSON.</a:t>
            </a:r>
          </a:p>
          <a:p>
            <a:r>
              <a:rPr lang="en-IN" sz="1200" dirty="0">
                <a:solidFill>
                  <a:schemeClr val="bg1"/>
                </a:solidFill>
              </a:rPr>
              <a:t>Easier for post-verification with no hidden assumptions.</a:t>
            </a:r>
            <a:br>
              <a:rPr lang="en-IN" sz="1200" dirty="0">
                <a:solidFill>
                  <a:schemeClr val="bg1"/>
                </a:solidFill>
              </a:rPr>
            </a:br>
            <a:br>
              <a:rPr lang="en-IN" sz="1200" dirty="0">
                <a:solidFill>
                  <a:schemeClr val="bg1"/>
                </a:solidFill>
              </a:rPr>
            </a:b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b="1" dirty="0">
                <a:solidFill>
                  <a:schemeClr val="bg1"/>
                </a:solidFill>
              </a:rPr>
              <a:t>7. Fraud-Detectable Data Structure (Optional Flags)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We built flags for: Abnormal font/spacing, Rate/Qty mismatches, Sudden charge spikes.</a:t>
            </a:r>
          </a:p>
          <a:p>
            <a:r>
              <a:rPr lang="en-IN" sz="1200" dirty="0">
                <a:solidFill>
                  <a:schemeClr val="bg1"/>
                </a:solidFill>
              </a:rPr>
              <a:t>Aligns with Bajaj </a:t>
            </a:r>
            <a:r>
              <a:rPr lang="en-IN" sz="1200" dirty="0" err="1">
                <a:solidFill>
                  <a:schemeClr val="bg1"/>
                </a:solidFill>
              </a:rPr>
              <a:t>Finserv</a:t>
            </a:r>
            <a:r>
              <a:rPr lang="en-IN" sz="1200" dirty="0">
                <a:solidFill>
                  <a:schemeClr val="bg1"/>
                </a:solidFill>
              </a:rPr>
              <a:t> Health compliance needs.</a:t>
            </a:r>
          </a:p>
        </p:txBody>
      </p:sp>
    </p:spTree>
    <p:extLst>
      <p:ext uri="{BB962C8B-B14F-4D97-AF65-F5344CB8AC3E}">
        <p14:creationId xmlns:p14="http://schemas.microsoft.com/office/powerpoint/2010/main" val="628976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35291-BAA5-5F8F-8E7A-488A98DF3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1799BF7-88C0-B353-5A33-D79FD12CB83C}"/>
              </a:ext>
            </a:extLst>
          </p:cNvPr>
          <p:cNvSpPr txBox="1">
            <a:spLocks/>
          </p:cNvSpPr>
          <p:nvPr/>
        </p:nvSpPr>
        <p:spPr>
          <a:xfrm>
            <a:off x="272720" y="542620"/>
            <a:ext cx="8968996" cy="6452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b="1" dirty="0">
                <a:solidFill>
                  <a:srgbClr val="00FFFF"/>
                </a:solidFill>
                <a:latin typeface="Rubik" pitchFamily="2" charset="-79"/>
                <a:cs typeface="Rubik" pitchFamily="2" charset="-79"/>
              </a:rPr>
              <a:t>Risks/Challenges/Dependencies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Rubik" pitchFamily="2" charset="-79"/>
              <a:ea typeface="+mj-ea"/>
              <a:cs typeface="Rubik" pitchFamily="2" charset="-79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F06B85-296E-22C3-5623-9BABFD92F762}"/>
              </a:ext>
            </a:extLst>
          </p:cNvPr>
          <p:cNvSpPr txBox="1">
            <a:spLocks/>
          </p:cNvSpPr>
          <p:nvPr/>
        </p:nvSpPr>
        <p:spPr>
          <a:xfrm>
            <a:off x="168440" y="1127395"/>
            <a:ext cx="11114314" cy="50813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n-IN" sz="18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Risks</a:t>
            </a:r>
          </a:p>
          <a:p>
            <a:pPr lvl="0">
              <a:defRPr/>
            </a:pPr>
            <a:r>
              <a:rPr lang="en-IN" sz="18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 OCR misses on extremely poor scans or heavy handwriting.  </a:t>
            </a:r>
          </a:p>
          <a:p>
            <a:pPr lvl="0">
              <a:defRPr/>
            </a:pPr>
            <a:r>
              <a:rPr lang="en-IN" sz="18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 LLM output variability for very noisy pages.</a:t>
            </a:r>
          </a:p>
          <a:p>
            <a:pPr marL="0" lvl="0" indent="0">
              <a:buNone/>
              <a:defRPr/>
            </a:pPr>
            <a:r>
              <a:rPr lang="en-IN" sz="18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Mitigation</a:t>
            </a:r>
          </a:p>
          <a:p>
            <a:pPr lvl="0">
              <a:defRPr/>
            </a:pPr>
            <a:r>
              <a:rPr lang="en-IN" sz="18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 Add image preprocessing (</a:t>
            </a:r>
            <a:r>
              <a:rPr lang="en-IN" sz="1800" dirty="0" err="1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deskew</a:t>
            </a:r>
            <a:r>
              <a:rPr lang="en-IN" sz="18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, denoise, adaptive threshold).  </a:t>
            </a:r>
          </a:p>
          <a:p>
            <a:pPr lvl="0">
              <a:defRPr/>
            </a:pPr>
            <a:r>
              <a:rPr lang="en-IN" sz="18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 Keep LLM prompts minimal and use deterministic post-processing to enforce schema.  </a:t>
            </a:r>
          </a:p>
          <a:p>
            <a:pPr lvl="0">
              <a:defRPr/>
            </a:pPr>
            <a:r>
              <a:rPr lang="en-IN" sz="18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 Add optional human-in-loop review for low-confidence pages.</a:t>
            </a:r>
          </a:p>
          <a:p>
            <a:pPr marL="0" lvl="0" indent="0">
              <a:buNone/>
              <a:defRPr/>
            </a:pPr>
            <a:r>
              <a:rPr lang="en-IN" sz="18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Assumptions</a:t>
            </a:r>
          </a:p>
          <a:p>
            <a:pPr lvl="0">
              <a:defRPr/>
            </a:pPr>
            <a:r>
              <a:rPr lang="en-IN" sz="18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 Caller supplies public raw PDF/image URL (binary-accessible).  </a:t>
            </a:r>
          </a:p>
          <a:p>
            <a:pPr lvl="0">
              <a:defRPr/>
            </a:pPr>
            <a:r>
              <a:rPr lang="en-IN" sz="1800" dirty="0">
                <a:solidFill>
                  <a:prstClr val="white"/>
                </a:solidFill>
                <a:latin typeface="Rubik" pitchFamily="2" charset="-79"/>
                <a:cs typeface="Rubik" pitchFamily="2" charset="-79"/>
              </a:rPr>
              <a:t> Judging scripts will POST to `/extract-bill-data` and expect JSON per schema.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ubik" pitchFamily="2" charset="-79"/>
              <a:ea typeface="+mn-ea"/>
              <a:cs typeface="Rubik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F2E80-D786-7495-3145-11CCA6981C03}"/>
              </a:ext>
            </a:extLst>
          </p:cNvPr>
          <p:cNvSpPr txBox="1"/>
          <p:nvPr/>
        </p:nvSpPr>
        <p:spPr>
          <a:xfrm>
            <a:off x="175004" y="123815"/>
            <a:ext cx="620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BFHL - DATATHON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20139A-D6A6-5384-CD11-17C9E3799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6229" y="217714"/>
            <a:ext cx="1273051" cy="56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609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983</Words>
  <Application>Microsoft Office PowerPoint</Application>
  <PresentationFormat>Widescreen</PresentationFormat>
  <Paragraphs>119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Mitali Kalbhor</dc:creator>
  <cp:lastModifiedBy>Shrikant Dighole</cp:lastModifiedBy>
  <cp:revision>4</cp:revision>
  <dcterms:created xsi:type="dcterms:W3CDTF">2025-11-24T10:31:03Z</dcterms:created>
  <dcterms:modified xsi:type="dcterms:W3CDTF">2025-11-30T06:01:30Z</dcterms:modified>
</cp:coreProperties>
</file>